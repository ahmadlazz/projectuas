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oca Two Bold" charset="1" panose="00000800000000000000"/>
      <p:regular r:id="rId17"/>
    </p:embeddedFont>
    <p:embeddedFont>
      <p:font typeface="TT Chocolates Bold" charset="1" panose="02000803020000020003"/>
      <p:regular r:id="rId18"/>
    </p:embeddedFont>
    <p:embeddedFont>
      <p:font typeface="TT Chocolates" charset="1" panose="02000503020000020003"/>
      <p:regular r:id="rId19"/>
    </p:embeddedFont>
    <p:embeddedFont>
      <p:font typeface="Roca Two" charset="1" panose="00000500000000000000"/>
      <p:regular r:id="rId20"/>
    </p:embeddedFont>
    <p:embeddedFont>
      <p:font typeface="Roca Two Heavy" charset="1" panose="00000A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 descr="geometric shape"/>
          <p:cNvSpPr/>
          <p:nvPr/>
        </p:nvSpPr>
        <p:spPr>
          <a:xfrm flipH="false" flipV="false" rot="0">
            <a:off x="15391987" y="6947852"/>
            <a:ext cx="1393548" cy="1440654"/>
          </a:xfrm>
          <a:custGeom>
            <a:avLst/>
            <a:gdLst/>
            <a:ahLst/>
            <a:cxnLst/>
            <a:rect r="r" b="b" t="t" l="l"/>
            <a:pathLst>
              <a:path h="1440654" w="1393548">
                <a:moveTo>
                  <a:pt x="0" y="0"/>
                </a:moveTo>
                <a:lnTo>
                  <a:pt x="1393548" y="0"/>
                </a:lnTo>
                <a:lnTo>
                  <a:pt x="1393548" y="1440654"/>
                </a:lnTo>
                <a:lnTo>
                  <a:pt x="0" y="1440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0" id="10" descr="geometric shape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0">
            <a:off x="-197427" y="5143500"/>
            <a:ext cx="18682855" cy="5278582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0"/>
            <a:ext cx="10081124" cy="10287000"/>
          </a:xfrm>
          <a:custGeom>
            <a:avLst/>
            <a:gdLst/>
            <a:ahLst/>
            <a:cxnLst/>
            <a:rect r="r" b="b" t="t" l="l"/>
            <a:pathLst>
              <a:path h="10287000" w="10081124">
                <a:moveTo>
                  <a:pt x="0" y="0"/>
                </a:moveTo>
                <a:lnTo>
                  <a:pt x="10081124" y="0"/>
                </a:lnTo>
                <a:lnTo>
                  <a:pt x="100811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94" t="0" r="-1181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 descr="geometric shape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28700" y="1488473"/>
            <a:ext cx="7626119" cy="3040974"/>
            <a:chOff x="0" y="0"/>
            <a:chExt cx="10168159" cy="405463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244757"/>
              <a:ext cx="10168159" cy="2809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b="true" sz="6999" spc="-531">
                  <a:solidFill>
                    <a:srgbClr val="1D348A"/>
                  </a:solidFill>
                  <a:latin typeface="Roca Two Bold"/>
                  <a:ea typeface="Roca Two Bold"/>
                  <a:cs typeface="Roca Two Bold"/>
                  <a:sym typeface="Roca Two Bold"/>
                </a:rPr>
                <a:t>Decision Support System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38100"/>
              <a:ext cx="8245016" cy="76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80"/>
                </a:lnSpc>
              </a:pPr>
              <a:r>
                <a:rPr lang="en-US" b="true" sz="3600">
                  <a:solidFill>
                    <a:srgbClr val="000000"/>
                  </a:solidFill>
                  <a:latin typeface="TT Chocolates Bold"/>
                  <a:ea typeface="TT Chocolates Bold"/>
                  <a:cs typeface="TT Chocolates Bold"/>
                  <a:sym typeface="TT Chocolates Bold"/>
                </a:rPr>
                <a:t>Rute Kurir Logistik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76642" y="5643136"/>
            <a:ext cx="6730234" cy="307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33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Oleh:</a:t>
            </a:r>
          </a:p>
          <a:p>
            <a:pPr algn="l">
              <a:lnSpc>
                <a:spcPts val="4800"/>
              </a:lnSpc>
            </a:pPr>
            <a:r>
              <a:rPr lang="en-US" sz="3000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👤 </a:t>
            </a: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Ahmad Paesoel_</a:t>
            </a:r>
            <a:r>
              <a:rPr lang="en-US" sz="3000">
                <a:solidFill>
                  <a:srgbClr val="207EBA"/>
                </a:solidFill>
                <a:latin typeface="TT Chocolates"/>
                <a:ea typeface="TT Chocolates"/>
                <a:cs typeface="TT Chocolates"/>
                <a:sym typeface="TT Chocolates"/>
              </a:rPr>
              <a:t>2501010143</a:t>
            </a:r>
          </a:p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👤 Dania Syifa Rezkia_</a:t>
            </a:r>
            <a:r>
              <a:rPr lang="en-US" sz="3000">
                <a:solidFill>
                  <a:srgbClr val="207EBA"/>
                </a:solidFill>
                <a:latin typeface="TT Chocolates"/>
                <a:ea typeface="TT Chocolates"/>
                <a:cs typeface="TT Chocolates"/>
                <a:sym typeface="TT Chocolates"/>
              </a:rPr>
              <a:t>2501010012</a:t>
            </a:r>
          </a:p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👤 I Gusti Agung Ari Regina  </a:t>
            </a:r>
          </a:p>
          <a:p>
            <a:pPr algn="l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Dharmagita_</a:t>
            </a:r>
            <a:r>
              <a:rPr lang="en-US" sz="3000">
                <a:solidFill>
                  <a:srgbClr val="207EBA"/>
                </a:solidFill>
                <a:latin typeface="TT Chocolates"/>
                <a:ea typeface="TT Chocolates"/>
                <a:cs typeface="TT Chocolates"/>
                <a:sym typeface="TT Chocolates"/>
              </a:rPr>
              <a:t>2501010379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 descr="geometric shape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19851" y="1860881"/>
            <a:ext cx="7324149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Case Study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9851" y="3497023"/>
            <a:ext cx="15021728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Sistem ini dirancang untuk menyelesaikan masalah rute pada ekosistem logistik lokal (Bali), yang terdiri dari: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9851" y="4748811"/>
            <a:ext cx="5854200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🏢 Origin: Kantor Pusat sebagai sumber   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utama barang.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🛂 Intermediate: Hub Denpasar &amp; Kuta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sebagai titik transit.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🚹 Destination: Titik Penerima (A, B, C)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sebagai target.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34561" y="4748811"/>
            <a:ext cx="5854200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Tanpa sistem otomasi, kurir menghadapi risiko: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❌️ Pemilihan jalur memutar yang tidak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efisien.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❌️ Kesalahan estimasi waktu tiba (ETA).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❌️ Sulitnya menambah node baru secara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dinamis.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2026</a:t>
            </a:r>
          </a:p>
        </p:txBody>
      </p:sp>
      <p:sp>
        <p:nvSpPr>
          <p:cNvPr name="AutoShape 15" id="15"/>
          <p:cNvSpPr/>
          <p:nvPr/>
        </p:nvSpPr>
        <p:spPr>
          <a:xfrm flipH="true" flipV="true">
            <a:off x="9124950" y="4483918"/>
            <a:ext cx="19050" cy="40643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15168" y="5042415"/>
            <a:ext cx="644280" cy="6442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9" id="19" descr="geometric shape"/>
          <p:cNvSpPr/>
          <p:nvPr/>
        </p:nvSpPr>
        <p:spPr>
          <a:xfrm flipH="false" flipV="false" rot="0">
            <a:off x="223482" y="5143500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928895" y="4350438"/>
            <a:ext cx="4150708" cy="2957213"/>
          </a:xfrm>
          <a:custGeom>
            <a:avLst/>
            <a:gdLst/>
            <a:ahLst/>
            <a:cxnLst/>
            <a:rect r="r" b="b" t="t" l="l"/>
            <a:pathLst>
              <a:path h="2957213" w="4150708">
                <a:moveTo>
                  <a:pt x="0" y="0"/>
                </a:moveTo>
                <a:lnTo>
                  <a:pt x="4150708" y="0"/>
                </a:lnTo>
                <a:lnTo>
                  <a:pt x="4150708" y="2957214"/>
                </a:lnTo>
                <a:lnTo>
                  <a:pt x="0" y="2957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035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004249" y="2326782"/>
            <a:ext cx="10279502" cy="8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Model Graph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32772" y="4530042"/>
            <a:ext cx="3559524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⭕️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Nodes (Simpul)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Merepresentasikan lokasi geografis yang memiliki koordinat Lat/Lon spesifik.</a:t>
            </a:r>
          </a:p>
          <a:p>
            <a:pPr algn="just">
              <a:lnSpc>
                <a:spcPts val="3499"/>
              </a:lnSpc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068646" y="4350438"/>
            <a:ext cx="4150708" cy="2957213"/>
          </a:xfrm>
          <a:custGeom>
            <a:avLst/>
            <a:gdLst/>
            <a:ahLst/>
            <a:cxnLst/>
            <a:rect r="r" b="b" t="t" l="l"/>
            <a:pathLst>
              <a:path h="2957213" w="4150708">
                <a:moveTo>
                  <a:pt x="0" y="0"/>
                </a:moveTo>
                <a:lnTo>
                  <a:pt x="4150708" y="0"/>
                </a:lnTo>
                <a:lnTo>
                  <a:pt x="4150708" y="2957214"/>
                </a:lnTo>
                <a:lnTo>
                  <a:pt x="0" y="2957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035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208397" y="4350438"/>
            <a:ext cx="4150708" cy="2957213"/>
          </a:xfrm>
          <a:custGeom>
            <a:avLst/>
            <a:gdLst/>
            <a:ahLst/>
            <a:cxnLst/>
            <a:rect r="r" b="b" t="t" l="l"/>
            <a:pathLst>
              <a:path h="2957213" w="4150708">
                <a:moveTo>
                  <a:pt x="0" y="0"/>
                </a:moveTo>
                <a:lnTo>
                  <a:pt x="4150708" y="0"/>
                </a:lnTo>
                <a:lnTo>
                  <a:pt x="4150708" y="2957214"/>
                </a:lnTo>
                <a:lnTo>
                  <a:pt x="0" y="2957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035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372523" y="4530042"/>
            <a:ext cx="3559524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↔️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Edges (Sisi)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Relasi antar lokasi yang dapat dilalui secara dua arah (Undirected).</a:t>
            </a:r>
          </a:p>
          <a:p>
            <a:pPr algn="just">
              <a:lnSpc>
                <a:spcPts val="3499"/>
              </a:lnSpc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503989" y="4530042"/>
            <a:ext cx="3559524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🔂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Weight (Bobot)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Representasi jarak (Km) yang dihitung menggunakan formula Haversine.</a:t>
            </a:r>
          </a:p>
          <a:p>
            <a:pPr algn="just">
              <a:lnSpc>
                <a:spcPts val="3499"/>
              </a:lnSpc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69375" y="3355981"/>
            <a:ext cx="7674625" cy="3676189"/>
          </a:xfrm>
          <a:custGeom>
            <a:avLst/>
            <a:gdLst/>
            <a:ahLst/>
            <a:cxnLst/>
            <a:rect r="r" b="b" t="t" l="l"/>
            <a:pathLst>
              <a:path h="3676189" w="7674625">
                <a:moveTo>
                  <a:pt x="0" y="0"/>
                </a:moveTo>
                <a:lnTo>
                  <a:pt x="7674625" y="0"/>
                </a:lnTo>
                <a:lnTo>
                  <a:pt x="7674625" y="3676189"/>
                </a:lnTo>
                <a:lnTo>
                  <a:pt x="0" y="3676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5" r="0" b="-49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99050" y="2482667"/>
            <a:ext cx="6203806" cy="6425937"/>
          </a:xfrm>
          <a:custGeom>
            <a:avLst/>
            <a:gdLst/>
            <a:ahLst/>
            <a:cxnLst/>
            <a:rect r="r" b="b" t="t" l="l"/>
            <a:pathLst>
              <a:path h="6425937" w="6203806">
                <a:moveTo>
                  <a:pt x="0" y="0"/>
                </a:moveTo>
                <a:lnTo>
                  <a:pt x="6203806" y="0"/>
                </a:lnTo>
                <a:lnTo>
                  <a:pt x="6203806" y="6425937"/>
                </a:lnTo>
                <a:lnTo>
                  <a:pt x="0" y="6425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69375" y="1710250"/>
            <a:ext cx="811530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Adjacency List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9375" y="7394129"/>
            <a:ext cx="712037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Sistem menyimpan data dalam Python Dictionary untuk akses cepat O(1) saat mencari tetangga dari sebuah node.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8678" y="3726265"/>
            <a:ext cx="9735909" cy="4173448"/>
          </a:xfrm>
          <a:custGeom>
            <a:avLst/>
            <a:gdLst/>
            <a:ahLst/>
            <a:cxnLst/>
            <a:rect r="r" b="b" t="t" l="l"/>
            <a:pathLst>
              <a:path h="4173448" w="9735909">
                <a:moveTo>
                  <a:pt x="0" y="0"/>
                </a:moveTo>
                <a:lnTo>
                  <a:pt x="9735908" y="0"/>
                </a:lnTo>
                <a:lnTo>
                  <a:pt x="9735908" y="4173449"/>
                </a:lnTo>
                <a:lnTo>
                  <a:pt x="0" y="4173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0" t="-323" r="-209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8678" y="1783696"/>
            <a:ext cx="811530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Algoritma Dijkstra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50886" y="4227077"/>
            <a:ext cx="4396478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🔀 Relaksasi Sisi dilakukan secara</a:t>
            </a:r>
          </a:p>
          <a:p>
            <a:pPr algn="just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 iteratif.</a:t>
            </a:r>
          </a:p>
          <a:p>
            <a:pPr algn="just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🔀 Pencatatan log setiap langkah</a:t>
            </a:r>
          </a:p>
          <a:p>
            <a:pPr algn="just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 ekstraksi.</a:t>
            </a:r>
          </a:p>
          <a:p>
            <a:pPr algn="just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🔀 Rekonstruksi jalur dari target</a:t>
            </a:r>
          </a:p>
          <a:p>
            <a:pPr algn="just" marL="0" indent="0" lvl="0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 ke start.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8678" y="5364555"/>
            <a:ext cx="6518557" cy="3046906"/>
          </a:xfrm>
          <a:custGeom>
            <a:avLst/>
            <a:gdLst/>
            <a:ahLst/>
            <a:cxnLst/>
            <a:rect r="r" b="b" t="t" l="l"/>
            <a:pathLst>
              <a:path h="3046906" w="6518557">
                <a:moveTo>
                  <a:pt x="0" y="0"/>
                </a:moveTo>
                <a:lnTo>
                  <a:pt x="6518557" y="0"/>
                </a:lnTo>
                <a:lnTo>
                  <a:pt x="6518557" y="3046905"/>
                </a:lnTo>
                <a:lnTo>
                  <a:pt x="0" y="3046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15" r="-3143" b="-61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38678" y="1783696"/>
            <a:ext cx="11517477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Optimasi Jarak &amp; Kompleksitas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8678" y="3432707"/>
            <a:ext cx="6306921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4"/>
              </a:lnSpc>
            </a:pPr>
            <a:r>
              <a:rPr lang="en-US" sz="24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Formula Haversine</a:t>
            </a:r>
          </a:p>
          <a:p>
            <a:pPr algn="just">
              <a:lnSpc>
                <a:spcPts val="412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Digunakan untuk menghitung bobot (jarak) awal antar koordinat GPS.</a:t>
            </a:r>
          </a:p>
          <a:p>
            <a:pPr algn="just" marL="0" indent="0" lvl="0">
              <a:lnSpc>
                <a:spcPts val="4124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23320" y="4449378"/>
            <a:ext cx="7665668" cy="396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true">
                <a:solidFill>
                  <a:srgbClr val="B2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O((V+E)logV)</a:t>
            </a:r>
          </a:p>
          <a:p>
            <a:pPr algn="ctr">
              <a:lnSpc>
                <a:spcPts val="5263"/>
              </a:lnSpc>
            </a:pPr>
            <a:r>
              <a:rPr lang="en-US" sz="27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Waktu Eksekusi Sangat Efisien</a:t>
            </a:r>
          </a:p>
          <a:p>
            <a:pPr algn="ctr">
              <a:lnSpc>
                <a:spcPts val="5076"/>
              </a:lnSpc>
            </a:pPr>
            <a:r>
              <a:rPr lang="en-US" sz="27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V = Nodes, E = Edges</a:t>
            </a:r>
          </a:p>
          <a:p>
            <a:pPr algn="ctr">
              <a:lnSpc>
                <a:spcPts val="3294"/>
              </a:lnSpc>
            </a:pPr>
            <a:r>
              <a:rPr lang="en-US" sz="27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Heap membantu efesiensi pencarian minimum</a:t>
            </a:r>
          </a:p>
          <a:p>
            <a:pPr algn="ctr">
              <a:lnSpc>
                <a:spcPts val="4455"/>
              </a:lnSpc>
            </a:pPr>
          </a:p>
          <a:p>
            <a:pPr algn="just" marL="0" indent="0" lvl="0">
              <a:lnSpc>
                <a:spcPts val="4455"/>
              </a:lnSpc>
            </a:pPr>
          </a:p>
        </p:txBody>
      </p:sp>
      <p:sp>
        <p:nvSpPr>
          <p:cNvPr name="AutoShape 22" id="22"/>
          <p:cNvSpPr/>
          <p:nvPr/>
        </p:nvSpPr>
        <p:spPr>
          <a:xfrm flipV="true">
            <a:off x="9163050" y="3622960"/>
            <a:ext cx="0" cy="52901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21860" y="109527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0173" y="210613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21860" y="9533193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30173" y="9634278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4" y="0"/>
                </a:lnTo>
                <a:lnTo>
                  <a:pt x="427654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87329" y="4002921"/>
            <a:ext cx="14513342" cy="2869627"/>
          </a:xfrm>
          <a:custGeom>
            <a:avLst/>
            <a:gdLst/>
            <a:ahLst/>
            <a:cxnLst/>
            <a:rect r="r" b="b" t="t" l="l"/>
            <a:pathLst>
              <a:path h="2869627" w="14513342">
                <a:moveTo>
                  <a:pt x="0" y="0"/>
                </a:moveTo>
                <a:lnTo>
                  <a:pt x="14513342" y="0"/>
                </a:lnTo>
                <a:lnTo>
                  <a:pt x="14513342" y="2869627"/>
                </a:lnTo>
                <a:lnTo>
                  <a:pt x="0" y="2869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8" t="0" r="-698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12329" y="2272581"/>
            <a:ext cx="7831671" cy="8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Integrasi Sistem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 descr="geometric shape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5168" y="5042415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 descr="geometric shape"/>
          <p:cNvSpPr/>
          <p:nvPr/>
        </p:nvSpPr>
        <p:spPr>
          <a:xfrm flipH="false" flipV="false" rot="0">
            <a:off x="223482" y="5143500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19851" y="4142171"/>
            <a:ext cx="7964528" cy="2444768"/>
          </a:xfrm>
          <a:custGeom>
            <a:avLst/>
            <a:gdLst/>
            <a:ahLst/>
            <a:cxnLst/>
            <a:rect r="r" b="b" t="t" l="l"/>
            <a:pathLst>
              <a:path h="2444768" w="7964528">
                <a:moveTo>
                  <a:pt x="0" y="0"/>
                </a:moveTo>
                <a:lnTo>
                  <a:pt x="7964528" y="0"/>
                </a:lnTo>
                <a:lnTo>
                  <a:pt x="7964528" y="2444767"/>
                </a:lnTo>
                <a:lnTo>
                  <a:pt x="0" y="24447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7" r="-1575" b="-25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19851" y="1860881"/>
            <a:ext cx="841471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Node Dinamis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41654" y="3350017"/>
            <a:ext cx="5854200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4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Interaktivitas Pengguna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Sistem memungkinkan admin untuk "memperluas" jaringan distribusi logistik tanpa harus mengubah source code.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Kemampuan Sistem: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📳 Deteksi otomatis koordinat via klik peta.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〽️ Re-kalkulasi instan rute optimal.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🔆 Validasi data lokasi ganda.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 descr="geometric shape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5168" y="5042415"/>
            <a:ext cx="644280" cy="6442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 descr="geometric shape"/>
          <p:cNvSpPr/>
          <p:nvPr/>
        </p:nvSpPr>
        <p:spPr>
          <a:xfrm flipH="false" flipV="false" rot="0">
            <a:off x="223482" y="5143500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09"/>
                </a:lnTo>
                <a:lnTo>
                  <a:pt x="0" y="4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594815" y="3108656"/>
            <a:ext cx="13098371" cy="4065094"/>
          </a:xfrm>
          <a:custGeom>
            <a:avLst/>
            <a:gdLst/>
            <a:ahLst/>
            <a:cxnLst/>
            <a:rect r="r" b="b" t="t" l="l"/>
            <a:pathLst>
              <a:path h="4065094" w="13098371">
                <a:moveTo>
                  <a:pt x="0" y="0"/>
                </a:moveTo>
                <a:lnTo>
                  <a:pt x="13098370" y="0"/>
                </a:lnTo>
                <a:lnTo>
                  <a:pt x="13098370" y="4065094"/>
                </a:lnTo>
                <a:lnTo>
                  <a:pt x="0" y="4065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01" t="-6390" r="-22" b="-639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56573" y="1567098"/>
            <a:ext cx="841471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Competitive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51723" y="7800975"/>
            <a:ext cx="562441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🕜 </a:t>
            </a:r>
            <a:r>
              <a:rPr lang="en-US" sz="24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Efisiensi Waktu:</a:t>
            </a: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Pengurangan waktu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tempuh kurir hingga 15-30%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dibanding rute manual.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6122" y="7800975"/>
            <a:ext cx="5202099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📋 </a:t>
            </a:r>
            <a:r>
              <a:rPr lang="en-US" sz="24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Audit</a:t>
            </a: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99" b="true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Algoritma:</a:t>
            </a: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Log perhitungan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memungkinkan analisis langkah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demi langkah.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928895" y="4350438"/>
            <a:ext cx="4150708" cy="2957213"/>
          </a:xfrm>
          <a:custGeom>
            <a:avLst/>
            <a:gdLst/>
            <a:ahLst/>
            <a:cxnLst/>
            <a:rect r="r" b="b" t="t" l="l"/>
            <a:pathLst>
              <a:path h="2957213" w="4150708">
                <a:moveTo>
                  <a:pt x="0" y="0"/>
                </a:moveTo>
                <a:lnTo>
                  <a:pt x="4150708" y="0"/>
                </a:lnTo>
                <a:lnTo>
                  <a:pt x="4150708" y="2957214"/>
                </a:lnTo>
                <a:lnTo>
                  <a:pt x="0" y="2957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035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004249" y="2326782"/>
            <a:ext cx="10279502" cy="8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6999" spc="-531">
                <a:solidFill>
                  <a:srgbClr val="1D348A"/>
                </a:solidFill>
                <a:latin typeface="Roca Two"/>
                <a:ea typeface="Roca Two"/>
                <a:cs typeface="Roca Two"/>
                <a:sym typeface="Roca Two"/>
              </a:rPr>
              <a:t>Evaluasi Kendala &amp; Solusi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32772" y="4530042"/>
            <a:ext cx="3559524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⚠️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Ketergantungan API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Sistem memerlukan akses internet untuk fetching data rute jalan raya via OSRM.</a:t>
            </a:r>
          </a:p>
          <a:p>
            <a:pPr algn="just">
              <a:lnSpc>
                <a:spcPts val="3499"/>
              </a:lnSpc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068646" y="4350438"/>
            <a:ext cx="4150708" cy="2957213"/>
          </a:xfrm>
          <a:custGeom>
            <a:avLst/>
            <a:gdLst/>
            <a:ahLst/>
            <a:cxnLst/>
            <a:rect r="r" b="b" t="t" l="l"/>
            <a:pathLst>
              <a:path h="2957213" w="4150708">
                <a:moveTo>
                  <a:pt x="0" y="0"/>
                </a:moveTo>
                <a:lnTo>
                  <a:pt x="4150708" y="0"/>
                </a:lnTo>
                <a:lnTo>
                  <a:pt x="4150708" y="2957214"/>
                </a:lnTo>
                <a:lnTo>
                  <a:pt x="0" y="2957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035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208397" y="4350438"/>
            <a:ext cx="4150708" cy="2957213"/>
          </a:xfrm>
          <a:custGeom>
            <a:avLst/>
            <a:gdLst/>
            <a:ahLst/>
            <a:cxnLst/>
            <a:rect r="r" b="b" t="t" l="l"/>
            <a:pathLst>
              <a:path h="2957213" w="4150708">
                <a:moveTo>
                  <a:pt x="0" y="0"/>
                </a:moveTo>
                <a:lnTo>
                  <a:pt x="4150708" y="0"/>
                </a:lnTo>
                <a:lnTo>
                  <a:pt x="4150708" y="2957214"/>
                </a:lnTo>
                <a:lnTo>
                  <a:pt x="0" y="2957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035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372523" y="4530042"/>
            <a:ext cx="3559524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☣️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Faktor Eksternal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Belum mencakup variabel real-time seperti kemacetan atau cuaca buruk.</a:t>
            </a:r>
          </a:p>
          <a:p>
            <a:pPr algn="just">
              <a:lnSpc>
                <a:spcPts val="3499"/>
              </a:lnSpc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503989" y="4530042"/>
            <a:ext cx="3559524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💡</a:t>
            </a: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Pengembangan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Solusi: Integrasi database graph (Neo4j) untuk skala node yang lebih masif.</a:t>
            </a:r>
          </a:p>
          <a:p>
            <a:pPr algn="just">
              <a:lnSpc>
                <a:spcPts val="3499"/>
              </a:lnSpc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7308" y="415332"/>
            <a:ext cx="17413383" cy="9456337"/>
            <a:chOff x="0" y="0"/>
            <a:chExt cx="4586241" cy="24905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86241" cy="2490558"/>
            </a:xfrm>
            <a:custGeom>
              <a:avLst/>
              <a:gdLst/>
              <a:ahLst/>
              <a:cxnLst/>
              <a:rect r="r" b="b" t="t" l="l"/>
              <a:pathLst>
                <a:path h="2490558" w="4586241">
                  <a:moveTo>
                    <a:pt x="22674" y="0"/>
                  </a:moveTo>
                  <a:lnTo>
                    <a:pt x="4563567" y="0"/>
                  </a:lnTo>
                  <a:cubicBezTo>
                    <a:pt x="4569580" y="0"/>
                    <a:pt x="4575347" y="2389"/>
                    <a:pt x="4579600" y="6641"/>
                  </a:cubicBezTo>
                  <a:cubicBezTo>
                    <a:pt x="4583852" y="10893"/>
                    <a:pt x="4586241" y="16661"/>
                    <a:pt x="4586241" y="22674"/>
                  </a:cubicBezTo>
                  <a:lnTo>
                    <a:pt x="4586241" y="2467883"/>
                  </a:lnTo>
                  <a:cubicBezTo>
                    <a:pt x="4586241" y="2480406"/>
                    <a:pt x="4576089" y="2490558"/>
                    <a:pt x="4563567" y="2490558"/>
                  </a:cubicBezTo>
                  <a:lnTo>
                    <a:pt x="22674" y="2490558"/>
                  </a:lnTo>
                  <a:cubicBezTo>
                    <a:pt x="16661" y="2490558"/>
                    <a:pt x="10893" y="2488169"/>
                    <a:pt x="6641" y="2483917"/>
                  </a:cubicBezTo>
                  <a:cubicBezTo>
                    <a:pt x="2389" y="2479664"/>
                    <a:pt x="0" y="2473897"/>
                    <a:pt x="0" y="2467883"/>
                  </a:cubicBezTo>
                  <a:lnTo>
                    <a:pt x="0" y="22674"/>
                  </a:lnTo>
                  <a:cubicBezTo>
                    <a:pt x="0" y="16661"/>
                    <a:pt x="2389" y="10893"/>
                    <a:pt x="6641" y="6641"/>
                  </a:cubicBezTo>
                  <a:cubicBezTo>
                    <a:pt x="10893" y="2389"/>
                    <a:pt x="16661" y="0"/>
                    <a:pt x="22674" y="0"/>
                  </a:cubicBezTo>
                  <a:close/>
                </a:path>
              </a:pathLst>
            </a:custGeom>
            <a:ln w="19050" cap="rnd">
              <a:solidFill>
                <a:srgbClr val="16276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586241" cy="2538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196415" y="3307080"/>
            <a:ext cx="9895170" cy="595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139"/>
              </a:lnSpc>
            </a:pPr>
            <a:r>
              <a:rPr lang="en-US" b="true" sz="27000" spc="-2052">
                <a:solidFill>
                  <a:srgbClr val="1D348A"/>
                </a:solidFill>
                <a:latin typeface="Roca Two Heavy"/>
                <a:ea typeface="Roca Two Heavy"/>
                <a:cs typeface="Roca Two Heavy"/>
                <a:sym typeface="Roca Two Heavy"/>
              </a:rPr>
              <a:t>Thank You!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303174" y="715124"/>
            <a:ext cx="1571174" cy="627153"/>
            <a:chOff x="0" y="0"/>
            <a:chExt cx="101813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8133" cy="406400"/>
            </a:xfrm>
            <a:custGeom>
              <a:avLst/>
              <a:gdLst/>
              <a:ahLst/>
              <a:cxnLst/>
              <a:rect r="r" b="b" t="t" l="l"/>
              <a:pathLst>
                <a:path h="406400" w="1018133">
                  <a:moveTo>
                    <a:pt x="814933" y="0"/>
                  </a:moveTo>
                  <a:cubicBezTo>
                    <a:pt x="927157" y="0"/>
                    <a:pt x="1018133" y="90976"/>
                    <a:pt x="1018133" y="203200"/>
                  </a:cubicBezTo>
                  <a:cubicBezTo>
                    <a:pt x="1018133" y="315424"/>
                    <a:pt x="927157" y="406400"/>
                    <a:pt x="81493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62768"/>
            </a:solidFill>
            <a:ln w="19050" cap="sq">
              <a:solidFill>
                <a:srgbClr val="1D34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01813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918222" y="830279"/>
            <a:ext cx="2341078" cy="34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2026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217210" y="5796915"/>
            <a:ext cx="2048459" cy="2117703"/>
          </a:xfrm>
          <a:custGeom>
            <a:avLst/>
            <a:gdLst/>
            <a:ahLst/>
            <a:cxnLst/>
            <a:rect r="r" b="b" t="t" l="l"/>
            <a:pathLst>
              <a:path h="2117703" w="2048459">
                <a:moveTo>
                  <a:pt x="0" y="0"/>
                </a:moveTo>
                <a:lnTo>
                  <a:pt x="2048459" y="0"/>
                </a:lnTo>
                <a:lnTo>
                  <a:pt x="2048459" y="2117703"/>
                </a:lnTo>
                <a:lnTo>
                  <a:pt x="0" y="211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5168" y="4821360"/>
            <a:ext cx="644280" cy="6442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23482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528552" y="4821360"/>
            <a:ext cx="644280" cy="64428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194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7636865" y="4922445"/>
            <a:ext cx="427653" cy="442109"/>
          </a:xfrm>
          <a:custGeom>
            <a:avLst/>
            <a:gdLst/>
            <a:ahLst/>
            <a:cxnLst/>
            <a:rect r="r" b="b" t="t" l="l"/>
            <a:pathLst>
              <a:path h="442109" w="427653">
                <a:moveTo>
                  <a:pt x="0" y="0"/>
                </a:moveTo>
                <a:lnTo>
                  <a:pt x="427653" y="0"/>
                </a:lnTo>
                <a:lnTo>
                  <a:pt x="427653" y="442110"/>
                </a:lnTo>
                <a:lnTo>
                  <a:pt x="0" y="4421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DAHL2jblGeQ</dc:identifier>
  <dcterms:modified xsi:type="dcterms:W3CDTF">2011-08-01T06:04:30Z</dcterms:modified>
  <cp:revision>1</cp:revision>
  <dc:title>Blue and Grey Modern Geometric Simple Minimalist Pitch Deck Presentation</dc:title>
</cp:coreProperties>
</file>